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7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531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Представьтесь, назовите роли. Цель защиты: получить решение Go / Go с условиями / No-Go. [Дата защиты]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вопрос заказчика: какая площадь лесного фонда вне зоны камер и сколько пожаров там за 3–5 лет. Альтернативы: ничего не делать, только спутники, камеры плюс спутники (выбрана). Источники: Лесохранитель, fcrisk.ru.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Цели сформулированы по SMART: у каждой есть исходное и целевое значение и срок.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Матрица влияния и интереса и RACI лежат в docs/stakeholders.md.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Обоснование: docs/adr/ADR-001-lifecycle.md. Главная причина: неопределённость данных и точности модели при жёстком сроке.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Оценка = вероятность × влияние (1–5). Полный реестр в разделе 9 устава.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открыть доску проекта и показать цепочку: Issue, PR с Closes #N, закрытие. Затем спросить решение спонсора.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8186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устава проекта · ЛР 1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669540"/>
            <a:ext cx="10883392" cy="1305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6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лесных пожаров в Республике Башкортостан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415290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C9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Камеры и спутники в одном интерфейсе диспетчера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6238240"/>
            <a:ext cx="40153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лесных пожаров в РБ · Инициация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Проблема: слепые зоны и долгое подтверждение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5"/>
            <a:ext cx="5175250" cy="1690370"/>
          </a:xfrm>
          <a:prstGeom prst="roundRect">
            <a:avLst>
              <a:gd name="adj" fmla="val 5823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823720"/>
            <a:ext cx="480334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60–120 мин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1880" y="2468880"/>
            <a:ext cx="48033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 от первого сигнала до подтверждённого оповещения диспетчера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1567815"/>
            <a:ext cx="5175250" cy="1690370"/>
          </a:xfrm>
          <a:prstGeom prst="roundRect">
            <a:avLst>
              <a:gd name="adj" fmla="val 5823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6680" y="1823720"/>
            <a:ext cx="480334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 мин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56680" y="2468880"/>
            <a:ext cx="480334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проекта к ЛР 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934" y="3566160"/>
            <a:ext cx="10819638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7866" indent="-19786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Действующая сеть «Лесохранитель» – только камеры на вышках связи</a:t>
            </a:r>
            <a:endParaRPr lang="en-US" sz="1800" dirty="0"/>
          </a:p>
          <a:p>
            <a:pPr marL="197866" indent="-19786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Удалённые лесные массивы остаются без покрытия</a:t>
            </a:r>
            <a:endParaRPr lang="en-US" sz="1800" dirty="0"/>
          </a:p>
          <a:p>
            <a:pPr marL="197866" indent="-197866" algn="l">
              <a:lnSpc>
                <a:spcPts val="2700"/>
              </a:lnSpc>
              <a:buSzPct val="100000"/>
              <a:buChar char="•"/>
            </a:pPr>
            <a:r>
              <a:rPr lang="en-US" sz="1800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Решение: камеры плюс спутники, автоматическая проверка аномалий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2800" y="6238241"/>
            <a:ext cx="3167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лесных пожаров в РБ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Цели: четыре измеримых показателя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38459"/>
              </p:ext>
            </p:extLst>
          </p:nvPr>
        </p:nvGraphicFramePr>
        <p:xfrm>
          <a:off x="822960" y="1574801"/>
          <a:ext cx="10556240" cy="2560320"/>
        </p:xfrm>
        <a:graphic>
          <a:graphicData uri="http://schemas.openxmlformats.org/drawingml/2006/table">
            <a:tbl>
              <a:tblPr/>
              <a:tblGrid>
                <a:gridCol w="3589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2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6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6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1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22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Цель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Сейчас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Хотим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Срок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Быстрее подтверждать пожар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Минуты до подтверждённого сигнала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r>
                        <a:rPr lang="ru-RU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r>
                        <a:rPr lang="en-US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ЛР 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Один интерфейс диспетчера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Число каналов получения сигналов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Финал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Закрыть слепые зоны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Спутниковые источники в системе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ЛР 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Автоматическая проверка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 классификации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н/д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ЛР 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41"/>
            <a:ext cx="3167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лесных пожаров в РБ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2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Стейкхолдеры: с кем работаем плотно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6"/>
            <a:ext cx="3380264" cy="199263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823720"/>
            <a:ext cx="29545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2800" b="1" dirty="0">
                <a:solidFill>
                  <a:srgbClr val="F0A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Тесно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71880" y="2468880"/>
            <a:ext cx="295450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Минлесхоз РБ (заказчик), МЧС по РБ, преподаватель, команда</a:t>
            </a:r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405789" y="1567816"/>
            <a:ext cx="3380343" cy="199263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1694" y="1823720"/>
            <a:ext cx="2954589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2800" b="1" dirty="0">
                <a:solidFill>
                  <a:srgbClr val="F0A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Удовлетворять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661694" y="2468880"/>
            <a:ext cx="312126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Башгидромет, операторы связи</a:t>
            </a:r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7995682" y="1567816"/>
            <a:ext cx="3380343" cy="1992630"/>
          </a:xfrm>
          <a:prstGeom prst="roundRect">
            <a:avLst>
              <a:gd name="adj" fmla="val 4939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1587" y="1823720"/>
            <a:ext cx="2954589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2800" b="1" dirty="0">
                <a:solidFill>
                  <a:srgbClr val="F0A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Информировать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251587" y="2466145"/>
            <a:ext cx="295458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Жители РБ, арендаторы леса</a:t>
            </a:r>
            <a:endParaRPr lang="en-US" sz="15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812800" y="3868420"/>
            <a:ext cx="1088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9D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реестре 8 стейкхолдеров, в RACI 8 работ, в каждой строке одна «A». Протокол интервью с заказчиком в docs/meetings/.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39"/>
            <a:ext cx="3167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лесных пожаров в РБ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Подход: гибрид, вехи заранее и спринты внутри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151442"/>
              </p:ext>
            </p:extLst>
          </p:nvPr>
        </p:nvGraphicFramePr>
        <p:xfrm>
          <a:off x="822960" y="1574799"/>
          <a:ext cx="10556238" cy="924560"/>
        </p:xfrm>
        <a:graphic>
          <a:graphicData uri="http://schemas.openxmlformats.org/drawingml/2006/table">
            <a:tbl>
              <a:tblPr/>
              <a:tblGrid>
                <a:gridCol w="323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1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1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1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1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22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Водопад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Scrum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Kanban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Гибрид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Баллы из 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ru-RU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ru-RU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ru-RU" sz="1400" dirty="0">
                          <a:solidFill>
                            <a:srgbClr val="17211C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82396" y="2804161"/>
            <a:ext cx="10806176" cy="9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Вехи ЛР 1</a:t>
            </a:r>
            <a:r>
              <a:rPr lang="ru-RU" sz="1700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1700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и бюджет фиксируются в уставе</a:t>
            </a:r>
            <a:endParaRPr lang="en-US" sz="1700" dirty="0"/>
          </a:p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Спринты около двух недель, демо преподавателю на каждой контрольной точке</a:t>
            </a:r>
            <a:endParaRPr lang="en-US" sz="1700" dirty="0"/>
          </a:p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Встреча по средам в 15:00, не более двух задач в работе на человека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12800" y="6238239"/>
            <a:ext cx="3167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лесных пожаров в РБ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2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Главные риски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74799"/>
          <a:ext cx="10556240" cy="2773680"/>
        </p:xfrm>
        <a:graphic>
          <a:graphicData uri="http://schemas.openxmlformats.org/drawingml/2006/table">
            <a:tbl>
              <a:tblPr/>
              <a:tblGrid>
                <a:gridCol w="5489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6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22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Риск (если …, то …)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75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75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32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Оценка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575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75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75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32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Реакция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575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75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75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32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Спутниковых данных недостаточно, то точность ниже цели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75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75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Проверка в ЛР 2, доп. источники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75E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 данных камер, то слепые зоны не посчитать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Открытая статистика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Точность ниже 85%, то много ложных тревог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Доразметка, порог уверенности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Заказчик меняет требования после ЛР 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Резерв, порядок изменений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Участник выпал из проекта, то срок сдвинется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3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Дублирование ключевых задач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51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39"/>
            <a:ext cx="3167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лесных пожаров в РБ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для старта и наша рекомендация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4"/>
            <a:ext cx="3380264" cy="1690370"/>
          </a:xfrm>
          <a:prstGeom prst="roundRect">
            <a:avLst>
              <a:gd name="adj" fmla="val 5823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823721"/>
            <a:ext cx="29545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ru-RU" sz="3200" b="1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r>
              <a:rPr lang="en-US" sz="3200" b="1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000 ₽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1880" y="2468882"/>
            <a:ext cx="295450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 с резервом, условная оценка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789" y="1567814"/>
            <a:ext cx="3380343" cy="1690370"/>
          </a:xfrm>
          <a:prstGeom prst="roundRect">
            <a:avLst>
              <a:gd name="adj" fmla="val 5823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1694" y="1823721"/>
            <a:ext cx="295458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недель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661694" y="2468882"/>
            <a:ext cx="295458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срок, 3 человека по ~6 ч в неделю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682" y="1567814"/>
            <a:ext cx="3380343" cy="1690370"/>
          </a:xfrm>
          <a:prstGeom prst="roundRect">
            <a:avLst>
              <a:gd name="adj" fmla="val 5823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1587" y="1823721"/>
            <a:ext cx="295458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251587" y="2468882"/>
            <a:ext cx="295458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условиями: закрыть замечания по документам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82396" y="3566161"/>
            <a:ext cx="10806176" cy="9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Данные: доступ к камерам «Лесохранитель» или открытая замена</a:t>
            </a:r>
            <a:endParaRPr lang="en-US" sz="1700" dirty="0"/>
          </a:p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Согласовать формат демонстрации без боевых систем</a:t>
            </a:r>
            <a:endParaRPr lang="en-US" sz="1700" dirty="0"/>
          </a:p>
          <a:p>
            <a:pPr marL="184404" indent="-184404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Показать доску: задача &gt; Pull Request &gt; закрытие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39"/>
            <a:ext cx="3167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лесных пожаров в РБ ·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Мониторинг лесных пожаров в РБ — защита устава">
  <a:themeElements>
    <a:clrScheme name="Мониторинг лесных пожаров в РБ — защита устава">
      <a:dk1>
        <a:srgbClr val="17211C"/>
      </a:dk1>
      <a:lt1>
        <a:srgbClr val="F6F3EC"/>
      </a:lt1>
      <a:dk2>
        <a:srgbClr val="4F5650"/>
      </a:dk2>
      <a:lt2>
        <a:srgbClr val="E0DED7"/>
      </a:lt2>
      <a:accent1>
        <a:srgbClr val="D9622B"/>
      </a:accent1>
      <a:accent2>
        <a:srgbClr val="2F6B4F"/>
      </a:accent2>
      <a:accent3>
        <a:srgbClr val="F0A27A"/>
      </a:accent3>
      <a:accent4>
        <a:srgbClr val="6A7179"/>
      </a:accent4>
      <a:accent5>
        <a:srgbClr val="9AA8A0"/>
      </a:accent5>
      <a:accent6>
        <a:srgbClr val="C9D3CC"/>
      </a:accent6>
      <a:hlink>
        <a:srgbClr val="0563C1"/>
      </a:hlink>
      <a:folHlink>
        <a:srgbClr val="954F72"/>
      </a:folHlink>
    </a:clrScheme>
    <a:fontScheme name="Мониторинг лесных пожаров в РБ — защита устава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586</Words>
  <Application>Microsoft Office PowerPoint</Application>
  <PresentationFormat>Широкоэкранный</PresentationFormat>
  <Paragraphs>108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Мониторинг лесных пожаров в РБ — защита устава</vt:lpstr>
      <vt:lpstr>Мониторинг лесных пожаров в Республике Башкортостан</vt:lpstr>
      <vt:lpstr>Проблема: слепые зоны и долгое подтверждение</vt:lpstr>
      <vt:lpstr>Цели: четыре измеримых показателя</vt:lpstr>
      <vt:lpstr>Стейкхолдеры: с кем работаем плотно</vt:lpstr>
      <vt:lpstr>Подход: гибрид, вехи заранее и спринты внутри</vt:lpstr>
      <vt:lpstr>Главные риски</vt:lpstr>
      <vt:lpstr>Что нужно для старта и наша рекомендация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Мониторинг лесных пожаров в РБ — защита устава</dc:title>
  <dc:subject/>
  <dc:creator>home2_0</dc:creator>
  <cp:lastModifiedBy>home2_0</cp:lastModifiedBy>
  <cp:revision>3</cp:revision>
  <dcterms:created xsi:type="dcterms:W3CDTF">2026-10-16T16:20:09Z</dcterms:created>
  <dcterms:modified xsi:type="dcterms:W3CDTF">2026-10-16T16:41:29Z</dcterms:modified>
</cp:coreProperties>
</file>